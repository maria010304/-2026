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4" r:id="rId7"/>
    <p:sldId id="269" r:id="rId8"/>
    <p:sldId id="265" r:id="rId9"/>
    <p:sldId id="266" r:id="rId10"/>
    <p:sldId id="268" r:id="rId11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642">
          <p15:clr>
            <a:srgbClr val="A4A3A4"/>
          </p15:clr>
        </p15:guide>
        <p15:guide id="4" pos="7038">
          <p15:clr>
            <a:srgbClr val="A4A3A4"/>
          </p15:clr>
        </p15:guide>
        <p15:guide id="5" orient="horz" pos="913">
          <p15:clr>
            <a:srgbClr val="A4A3A4"/>
          </p15:clr>
        </p15:guide>
        <p15:guide id="6" orient="horz" pos="3861">
          <p15:clr>
            <a:srgbClr val="A4A3A4"/>
          </p15:clr>
        </p15:guide>
        <p15:guide id="7" orient="horz" pos="107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rVnhe+IjNjKg40ALK0aS/8PaS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97610-B823-43E0-BD0C-36EA2C596C32}">
  <a:tblStyle styleId="{90E97610-B823-43E0-BD0C-36EA2C596C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6" y="48"/>
      </p:cViewPr>
      <p:guideLst>
        <p:guide orient="horz" pos="2160"/>
        <p:guide pos="3840"/>
        <p:guide pos="642"/>
        <p:guide pos="7038"/>
        <p:guide orient="horz" pos="913"/>
        <p:guide orient="horz" pos="3861"/>
        <p:guide orient="horz" pos="1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580175d99_0_2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d580175d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1C3935E-EFC1-7C6A-3A0F-93463AE9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580175d99_0_26:notes">
            <a:extLst>
              <a:ext uri="{FF2B5EF4-FFF2-40B4-BE49-F238E27FC236}">
                <a16:creationId xmlns:a16="http://schemas.microsoft.com/office/drawing/2014/main" id="{42E83360-7DCC-8C33-FD8C-0F901735E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d580175d99_0_26:notes">
            <a:extLst>
              <a:ext uri="{FF2B5EF4-FFF2-40B4-BE49-F238E27FC236}">
                <a16:creationId xmlns:a16="http://schemas.microsoft.com/office/drawing/2014/main" id="{99B3A780-6B96-8CFF-A001-216B0176F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9206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80175d99_0_4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00" cy="3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g3d580175d9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6E45DEA1-2447-7497-B32A-C25C6F90E748}"/>
              </a:ext>
            </a:extLst>
          </p:cNvPr>
          <p:cNvSpPr/>
          <p:nvPr/>
        </p:nvSpPr>
        <p:spPr>
          <a:xfrm>
            <a:off x="2255520" y="43221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МИНИСТЕРСТВО ЦИФРОВОГО РАЗВИТИЯ, СВЯЗИ И МАССОВЫХ</a:t>
            </a:r>
          </a:p>
          <a:p>
            <a:pPr algn="ctr"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КОММУНИКАЦИЙ РОССИЙСКОЙ ФЕДЕРАЦИИ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449B8CC-E025-8BF8-5D42-D69626B3E0D1}"/>
              </a:ext>
            </a:extLst>
          </p:cNvPr>
          <p:cNvSpPr/>
          <p:nvPr/>
        </p:nvSpPr>
        <p:spPr>
          <a:xfrm>
            <a:off x="2172586" y="1232313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Clr>
                <a:srgbClr val="262626"/>
              </a:buClr>
              <a:buSzPts val="1800"/>
            </a:pP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Ордена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Трудового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Красного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Знамени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федеральное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государственное</a:t>
            </a:r>
            <a:endParaRPr lang="en-US" sz="1800" b="1" dirty="0">
              <a:solidFill>
                <a:srgbClr val="262626"/>
              </a:solidFill>
              <a:latin typeface="Times New Roman"/>
              <a:cs typeface="Times New Roman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бюджетное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образовательное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учреждение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высшего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образования</a:t>
            </a:r>
            <a:endParaRPr lang="en-US" sz="1800" b="1" dirty="0">
              <a:solidFill>
                <a:srgbClr val="262626"/>
              </a:solidFill>
              <a:latin typeface="Times New Roman"/>
              <a:cs typeface="Times New Roman"/>
            </a:endParaRPr>
          </a:p>
          <a:p>
            <a:pPr algn="ctr"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«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Московский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технический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университет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связи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 и </a:t>
            </a:r>
            <a:r>
              <a:rPr lang="en-US" sz="1800" b="1" dirty="0" err="1">
                <a:solidFill>
                  <a:srgbClr val="262626"/>
                </a:solidFill>
                <a:latin typeface="Times New Roman"/>
                <a:cs typeface="Times New Roman"/>
              </a:rPr>
              <a:t>информатики</a:t>
            </a:r>
            <a:r>
              <a:rPr lang="en-US" sz="1800" b="1" dirty="0">
                <a:solidFill>
                  <a:srgbClr val="262626"/>
                </a:solidFill>
                <a:latin typeface="Times New Roman"/>
                <a:cs typeface="Times New Roman"/>
              </a:rPr>
              <a:t>»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D3513C7-E78D-5C93-C675-19720C815BD2}"/>
              </a:ext>
            </a:extLst>
          </p:cNvPr>
          <p:cNvSpPr/>
          <p:nvPr/>
        </p:nvSpPr>
        <p:spPr>
          <a:xfrm>
            <a:off x="818549" y="1920240"/>
            <a:ext cx="10308256" cy="957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180340" algn="ctr">
              <a:buSzPts val="2000"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</a:rPr>
              <a:t>Кафедра «Системное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cs typeface="Times New Roman"/>
              </a:rPr>
              <a:t>программирование</a:t>
            </a: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</a:rPr>
              <a:t>»</a:t>
            </a:r>
          </a:p>
          <a:p>
            <a:pPr indent="180340" algn="ctr">
              <a:buSzPts val="2000"/>
            </a:pP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</a:rPr>
              <a:t>Направление подготовки 02.03.02 – Фундаментальная информатика и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cs typeface="Times New Roman"/>
              </a:rPr>
              <a:t>информационные</a:t>
            </a:r>
            <a:r>
              <a:rPr lang="en-US" sz="1800" dirty="0">
                <a:solidFill>
                  <a:schemeClr val="dk1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cs typeface="Times New Roman"/>
              </a:rPr>
              <a:t>технологии</a:t>
            </a:r>
            <a:endParaRPr lang="en-US" sz="18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200ADD8-92E7-21BD-54B2-1637D9CF649B}"/>
              </a:ext>
            </a:extLst>
          </p:cNvPr>
          <p:cNvSpPr/>
          <p:nvPr/>
        </p:nvSpPr>
        <p:spPr>
          <a:xfrm>
            <a:off x="2438400" y="3038253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180340" algn="ctr"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 Полужирный"/>
                <a:cs typeface="Times New Roman Полужирный"/>
              </a:rPr>
              <a:t>ВЫПУСКНАЯ КВАЛИФИКАЦИОННАЯ РАБОТА</a:t>
            </a:r>
          </a:p>
          <a:p>
            <a:pPr indent="180340" algn="ctr"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 Полужирный"/>
                <a:cs typeface="Times New Roman Полужирный"/>
              </a:rPr>
              <a:t>НА ТЕМУ: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E8AF65A-2F98-E493-7024-1385EB8CF13C}"/>
              </a:ext>
            </a:extLst>
          </p:cNvPr>
          <p:cNvSpPr/>
          <p:nvPr/>
        </p:nvSpPr>
        <p:spPr>
          <a:xfrm>
            <a:off x="2047215" y="3746913"/>
            <a:ext cx="86462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180340" algn="ctr">
              <a:buSzPts val="2000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</a:rPr>
              <a:t>«UX/UI-проектирование и </a:t>
            </a:r>
            <a:r>
              <a:rPr lang="ru-RU" sz="2000" dirty="0" err="1">
                <a:solidFill>
                  <a:schemeClr val="dk1"/>
                </a:solidFill>
                <a:latin typeface="Times New Roman"/>
                <a:cs typeface="Times New Roman"/>
              </a:rPr>
              <a:t>front-end</a:t>
            </a: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</a:rPr>
              <a:t> разработка корпоративной экосистемы для хранения, анализа и работы с видеоконтентом </a:t>
            </a:r>
            <a:r>
              <a:rPr lang="ru-RU" sz="2000" dirty="0" err="1">
                <a:solidFill>
                  <a:schemeClr val="dk1"/>
                </a:solidFill>
                <a:latin typeface="Times New Roman"/>
                <a:cs typeface="Times New Roman"/>
              </a:rPr>
              <a:t>Ifbest</a:t>
            </a: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</a:rPr>
              <a:t> Enterprise»</a:t>
            </a:r>
            <a:endParaRPr lang="en-US" sz="2000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EF79DA3-21FC-BB1E-BD9A-FA3686C683AC}"/>
              </a:ext>
            </a:extLst>
          </p:cNvPr>
          <p:cNvSpPr/>
          <p:nvPr/>
        </p:nvSpPr>
        <p:spPr>
          <a:xfrm>
            <a:off x="2255520" y="4752753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algn="ctr">
              <a:buClr>
                <a:schemeClr val="dk1"/>
              </a:buClr>
              <a:buSzPts val="1400"/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Дедова </a:t>
            </a: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Мария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Сергеевна</a:t>
            </a: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МТУСИ, студент гр. БФИ2203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ctr"/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</a:t>
            </a:r>
            <a:r>
              <a:rPr lang="ru-RU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Кондратьева Ольга Владимировна</a:t>
            </a:r>
            <a:endParaRPr lang="en-US" sz="16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ctr"/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кафедры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«Системное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17E8672-B908-3AFB-C155-F6916563341C}"/>
              </a:ext>
            </a:extLst>
          </p:cNvPr>
          <p:cNvSpPr/>
          <p:nvPr/>
        </p:nvSpPr>
        <p:spPr>
          <a:xfrm>
            <a:off x="4724400" y="5987193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Москва 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1019025" y="1202550"/>
            <a:ext cx="10153800" cy="4714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Конкурентное преимущество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компании, вкладывающиеся в удобство цифровых систем, получают значительный рыночный перевес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устаревших решений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на рынке до сих пор преобладают плохо продуманные или устаревшие интерфейсы, что создает зону для инноваций.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ценность навыка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освоение передовых методик UI/UX-дизайна становится востребованным бизнес-навыком</a:t>
            </a:r>
          </a:p>
          <a:p>
            <a:pPr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Готовое решение для бизнеса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результатом работы выступает внедряемое решение, которое компания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Ifbest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Enterprise сможет применить для модернизации своих цифровых систем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19025" y="663409"/>
            <a:ext cx="10153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работы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1019100" y="1093899"/>
            <a:ext cx="101538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just">
              <a:lnSpc>
                <a:spcPct val="150000"/>
              </a:lnSpc>
              <a:buNone/>
            </a:pPr>
            <a:r>
              <a:rPr lang="ru-RU" sz="2000" b="1" dirty="0">
                <a:latin typeface="Times New Roman"/>
                <a:ea typeface="Times New Roman"/>
                <a:cs typeface="Times New Roman"/>
                <a:sym typeface="Times New Roman"/>
              </a:rPr>
              <a:t>Целью</a:t>
            </a:r>
            <a:r>
              <a:rPr lang="ru-RU" sz="2000" dirty="0">
                <a:latin typeface="Times New Roman"/>
                <a:ea typeface="Times New Roman"/>
                <a:cs typeface="Times New Roman"/>
                <a:sym typeface="Times New Roman"/>
              </a:rPr>
              <a:t> данной работы является </a:t>
            </a:r>
            <a:r>
              <a:rPr lang="ru-RU" sz="2000" dirty="0">
                <a:solidFill>
                  <a:srgbClr val="333333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разработка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front-end </a:t>
            </a:r>
            <a:r>
              <a:rPr lang="ru-RU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части корпоративной экосистемы для хранения анализа и работы с видеоконтентом с продуманным </a:t>
            </a:r>
            <a:r>
              <a:rPr 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UX-UI </a:t>
            </a:r>
            <a:r>
              <a:rPr lang="ru-RU" sz="20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дизайном.</a:t>
            </a:r>
            <a:endParaRPr sz="2000" dirty="0"/>
          </a:p>
        </p:txBody>
      </p:sp>
      <p:sp>
        <p:nvSpPr>
          <p:cNvPr id="105" name="Google Shape;105;p3"/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3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019100" y="526131"/>
            <a:ext cx="10153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задачи работы</a:t>
            </a:r>
            <a:endParaRPr dirty="0"/>
          </a:p>
        </p:txBody>
      </p:sp>
      <p:sp>
        <p:nvSpPr>
          <p:cNvPr id="107" name="Google Shape;107;p3"/>
          <p:cNvSpPr txBox="1"/>
          <p:nvPr/>
        </p:nvSpPr>
        <p:spPr>
          <a:xfrm>
            <a:off x="1019025" y="2440155"/>
            <a:ext cx="101538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429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sz="20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B2B-видеоплатформ и выявить ключевые UX-проблемы.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полное интерфейсное решение, включающие структуру и карту путей пользователя, единую дизайн-систему, а также прототипы ключевых страниц.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стек технологий и с его использованием реализовать адаптивную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часть для обеспечения интерактивности и анимации.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прототипа и внести необходимые правки.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11050905" y="6492240"/>
            <a:ext cx="60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2709812" y="633399"/>
            <a:ext cx="7162800" cy="400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UX-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существующих решений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62BEFF-1DB6-8DE2-0331-64357170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262" y="6594475"/>
            <a:ext cx="344303" cy="223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EB034D-150D-C249-DEA4-8CFB038D7409}"/>
              </a:ext>
            </a:extLst>
          </p:cNvPr>
          <p:cNvSpPr txBox="1"/>
          <p:nvPr/>
        </p:nvSpPr>
        <p:spPr>
          <a:xfrm>
            <a:off x="1226720" y="1469939"/>
            <a:ext cx="1012898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анализа профильных исследований были выявлены следующие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Когнитивная перегрузка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визуальный шум, неочевидные иконки, отсутствие иерархии.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доступность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нелогичный фокус клавиатуры, низкая контрастность.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контекстной помощи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нет подсказок внутри интерфейса.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Неадаптивные элементы управления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мелкие цели для сенсорных экранов, нет режима высокой контрастности.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1019100" y="559290"/>
            <a:ext cx="1015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UI-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дизайн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макеты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интерфейса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33D9F1-355A-3C51-1F9F-B30EAD95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669" y="1321289"/>
            <a:ext cx="9336662" cy="4977421"/>
          </a:xfrm>
          <a:prstGeom prst="rect">
            <a:avLst/>
          </a:prstGeom>
        </p:spPr>
      </p:pic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8E08DE36-F916-61B7-B436-7762E5D37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5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580175d99_0_26"/>
          <p:cNvSpPr txBox="1"/>
          <p:nvPr/>
        </p:nvSpPr>
        <p:spPr>
          <a:xfrm>
            <a:off x="1019100" y="612449"/>
            <a:ext cx="1015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ctr">
              <a:buNone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Технологический стек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98854FEF-5AD8-3668-A509-5B998005A5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sym typeface="Arial"/>
              </a:rPr>
              <a:t>9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65FCE4C5-2DBF-E397-52FA-09E1838D9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12880"/>
              </p:ext>
            </p:extLst>
          </p:nvPr>
        </p:nvGraphicFramePr>
        <p:xfrm>
          <a:off x="876300" y="1543675"/>
          <a:ext cx="10439400" cy="4013200"/>
        </p:xfrm>
        <a:graphic>
          <a:graphicData uri="http://schemas.openxmlformats.org/drawingml/2006/table">
            <a:tbl>
              <a:tblPr firstRow="1" bandRow="1">
                <a:tableStyleId>{90E97610-B823-43E0-BD0C-36EA2C596C32}</a:tableStyleId>
              </a:tblPr>
              <a:tblGrid>
                <a:gridCol w="1528233">
                  <a:extLst>
                    <a:ext uri="{9D8B030D-6E8A-4147-A177-3AD203B41FA5}">
                      <a16:colId xmlns:a16="http://schemas.microsoft.com/office/drawing/2014/main" val="2902230476"/>
                    </a:ext>
                  </a:extLst>
                </a:gridCol>
                <a:gridCol w="4174067">
                  <a:extLst>
                    <a:ext uri="{9D8B030D-6E8A-4147-A177-3AD203B41FA5}">
                      <a16:colId xmlns:a16="http://schemas.microsoft.com/office/drawing/2014/main" val="4043669383"/>
                    </a:ext>
                  </a:extLst>
                </a:gridCol>
                <a:gridCol w="4737100">
                  <a:extLst>
                    <a:ext uri="{9D8B030D-6E8A-4147-A177-3AD203B41FA5}">
                      <a16:colId xmlns:a16="http://schemas.microsoft.com/office/drawing/2014/main" val="2153506384"/>
                    </a:ext>
                  </a:extLst>
                </a:gridCol>
              </a:tblGrid>
              <a:tr h="24515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Причина выбора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4223076655"/>
                  </a:ext>
                </a:extLst>
              </a:tr>
              <a:tr h="3502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Создаёт структуру страниц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отличие от устаревших форматов (Flash, XHTML),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поддерживает нативные теги, работает на всех устройствах без плагинов, а также позволяет валидировать разметку напрямую в браузере.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2790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CSS3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Отвечает за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в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изуальный стиль и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адаптив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отличие от 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Tailwind CSS</a:t>
                      </a: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Sass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/SCSS</a:t>
                      </a: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не требует изучения дополнительных классов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;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 нет необходимости в препроцессорах и сборке — код работает сразу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2029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Логика переключения страниц, фильтрация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По сравнению с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jQuery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и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TypeScript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современный и нативный, а также работает без компиляции. 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018737935"/>
                  </a:ext>
                </a:extLst>
              </a:tr>
              <a:tr h="2735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Собирает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к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ликабельный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прототип из компонентов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Даёт настоящий браузерный интерфейс вместо картинок (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Figma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), достаточно </a:t>
                      </a:r>
                      <a:r>
                        <a:rPr lang="ru-RU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простой и быстрый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, а также переиспользует компоненты из UI Kit</a:t>
                      </a:r>
                      <a:endParaRPr lang="ru-RU" sz="16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69912549"/>
                  </a:ext>
                </a:extLst>
              </a:tr>
            </a:tbl>
          </a:graphicData>
        </a:graphic>
      </p:graphicFrame>
      <p:sp>
        <p:nvSpPr>
          <p:cNvPr id="9" name="Google Shape;98;p2">
            <a:extLst>
              <a:ext uri="{FF2B5EF4-FFF2-40B4-BE49-F238E27FC236}">
                <a16:creationId xmlns:a16="http://schemas.microsoft.com/office/drawing/2014/main" id="{44327E51-24DD-EBD2-A48F-6BE9C5B1A618}"/>
              </a:ext>
            </a:extLst>
          </p:cNvPr>
          <p:cNvSpPr txBox="1">
            <a:spLocks/>
          </p:cNvSpPr>
          <p:nvPr/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buSzPts val="2000"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AF448F5F-B198-7AFF-4852-851284D5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580175d99_0_26">
            <a:extLst>
              <a:ext uri="{FF2B5EF4-FFF2-40B4-BE49-F238E27FC236}">
                <a16:creationId xmlns:a16="http://schemas.microsoft.com/office/drawing/2014/main" id="{5011D656-B85B-6004-4364-7820E726C1F7}"/>
              </a:ext>
            </a:extLst>
          </p:cNvPr>
          <p:cNvSpPr txBox="1"/>
          <p:nvPr/>
        </p:nvSpPr>
        <p:spPr>
          <a:xfrm>
            <a:off x="1019100" y="612449"/>
            <a:ext cx="10153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Реализация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интерактивной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front-end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части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98;p2">
            <a:extLst>
              <a:ext uri="{FF2B5EF4-FFF2-40B4-BE49-F238E27FC236}">
                <a16:creationId xmlns:a16="http://schemas.microsoft.com/office/drawing/2014/main" id="{02E8322D-7ADF-EC4F-8EEE-E7870C095F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7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84E45A-32AD-2925-AF89-9D3FD18CB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0" r="7909"/>
          <a:stretch>
            <a:fillRect/>
          </a:stretch>
        </p:blipFill>
        <p:spPr>
          <a:xfrm>
            <a:off x="6096000" y="2582396"/>
            <a:ext cx="5701443" cy="333457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E76668-4F53-A335-BDAE-0627DBAA9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98" y="1315090"/>
            <a:ext cx="5703902" cy="30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4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8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1019100" y="538256"/>
            <a:ext cx="10153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400" b="1" dirty="0">
                <a:latin typeface="Times New Roman"/>
                <a:ea typeface="Times New Roman"/>
                <a:cs typeface="Times New Roman"/>
                <a:sym typeface="Times New Roman"/>
              </a:rPr>
              <a:t>Апробация</a:t>
            </a:r>
            <a:endParaRPr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6684541-315F-FBDE-A03F-048CD51EB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781430"/>
              </p:ext>
            </p:extLst>
          </p:nvPr>
        </p:nvGraphicFramePr>
        <p:xfrm>
          <a:off x="1830238" y="1647645"/>
          <a:ext cx="8531524" cy="4606506"/>
        </p:xfrm>
        <a:graphic>
          <a:graphicData uri="http://schemas.openxmlformats.org/drawingml/2006/table">
            <a:tbl>
              <a:tblPr>
                <a:tableStyleId>{90E97610-B823-43E0-BD0C-36EA2C596C32}</a:tableStyleId>
              </a:tblPr>
              <a:tblGrid>
                <a:gridCol w="1328346">
                  <a:extLst>
                    <a:ext uri="{9D8B030D-6E8A-4147-A177-3AD203B41FA5}">
                      <a16:colId xmlns:a16="http://schemas.microsoft.com/office/drawing/2014/main" val="4147277005"/>
                    </a:ext>
                  </a:extLst>
                </a:gridCol>
                <a:gridCol w="2479579">
                  <a:extLst>
                    <a:ext uri="{9D8B030D-6E8A-4147-A177-3AD203B41FA5}">
                      <a16:colId xmlns:a16="http://schemas.microsoft.com/office/drawing/2014/main" val="402282998"/>
                    </a:ext>
                  </a:extLst>
                </a:gridCol>
                <a:gridCol w="2125355">
                  <a:extLst>
                    <a:ext uri="{9D8B030D-6E8A-4147-A177-3AD203B41FA5}">
                      <a16:colId xmlns:a16="http://schemas.microsoft.com/office/drawing/2014/main" val="2637392215"/>
                    </a:ext>
                  </a:extLst>
                </a:gridCol>
                <a:gridCol w="2598244">
                  <a:extLst>
                    <a:ext uri="{9D8B030D-6E8A-4147-A177-3AD203B41FA5}">
                      <a16:colId xmlns:a16="http://schemas.microsoft.com/office/drawing/2014/main" val="1350382411"/>
                    </a:ext>
                  </a:extLst>
                </a:gridCol>
              </a:tblGrid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Участник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</a:t>
                      </a: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баллов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41225144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П-1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82,5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75971576"/>
                  </a:ext>
                </a:extLst>
              </a:tr>
              <a:tr h="845436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П-2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 отдела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77,5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Удовлетворительно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73162169"/>
                  </a:ext>
                </a:extLst>
              </a:tr>
              <a:tr h="845436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П-3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Руководитель отдела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85,0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50671232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П-4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80,0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Отлично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47025229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72,5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Удовлетворительно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25128520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П-6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Сотрудник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87,5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Отлично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05597721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Среднее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80,8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Отлично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398698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F828EA-2483-7145-4B45-01D389A61903}"/>
              </a:ext>
            </a:extLst>
          </p:cNvPr>
          <p:cNvSpPr txBox="1"/>
          <p:nvPr/>
        </p:nvSpPr>
        <p:spPr>
          <a:xfrm>
            <a:off x="3729127" y="1187273"/>
            <a:ext cx="47337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Результаты количественной оценки по шкале SUS</a:t>
            </a:r>
            <a:endParaRPr lang="ru-RU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580175d99_0_49"/>
          <p:cNvSpPr txBox="1">
            <a:spLocks noGrp="1"/>
          </p:cNvSpPr>
          <p:nvPr>
            <p:ph type="sldNum" idx="12"/>
          </p:nvPr>
        </p:nvSpPr>
        <p:spPr>
          <a:xfrm>
            <a:off x="11172825" y="5916972"/>
            <a:ext cx="697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9</a:t>
            </a: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8" name="Google Shape;178;g3d580175d99_0_49"/>
          <p:cNvSpPr txBox="1"/>
          <p:nvPr/>
        </p:nvSpPr>
        <p:spPr>
          <a:xfrm>
            <a:off x="1019174" y="574756"/>
            <a:ext cx="10153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 и результаты работы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A013F-06E5-876E-D319-3B83A2AE5C11}"/>
              </a:ext>
            </a:extLst>
          </p:cNvPr>
          <p:cNvSpPr txBox="1"/>
          <p:nvPr/>
        </p:nvSpPr>
        <p:spPr>
          <a:xfrm>
            <a:off x="587393" y="1385103"/>
            <a:ext cx="6097772" cy="441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Проведен анализ существующих B2B-видеоплатформ и выявлены ключевые UX-проблемы.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полное интерфейсное решение, включающее структуру и карту путей пользователя, единую дизайн-систему, а также прототипы ключевых страниц.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Реализована адаптивная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front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часть для обеспечения интерактивности и анимации.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Проведена апробация прототипа и внесены необходимые правки.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979B52-A727-9505-03CF-CE2676B83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491" y="1229105"/>
            <a:ext cx="3467170" cy="4900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/>
        </p:nvSpPr>
        <p:spPr>
          <a:xfrm>
            <a:off x="1631572" y="1565076"/>
            <a:ext cx="8928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34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 Полужирный"/>
              <a:ea typeface="Times New Roman Полужирный"/>
              <a:cs typeface="Times New Roman Полужирный"/>
              <a:sym typeface="Times New Roman Полужирный"/>
            </a:endParaRPr>
          </a:p>
          <a:p>
            <a:pPr marL="0" marR="0" lvl="0" indent="18034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4400" b="1" i="0" u="none" strike="noStrike" cap="none">
                <a:solidFill>
                  <a:srgbClr val="3624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</a:t>
            </a:r>
            <a:endParaRPr sz="2800" b="0" i="0" u="none" strike="noStrike" cap="none">
              <a:solidFill>
                <a:srgbClr val="3624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3398019" y="2642379"/>
            <a:ext cx="517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Обратная связь:</a:t>
            </a:r>
            <a:r>
              <a:rPr lang="ru-RU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masha.ded.2004@gmail.com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24B6B2-A5EA-FBD5-37E8-07A57FD1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731" y="3252241"/>
            <a:ext cx="2168535" cy="2217894"/>
          </a:xfrm>
          <a:prstGeom prst="rect">
            <a:avLst/>
          </a:prstGeom>
        </p:spPr>
      </p:pic>
      <p:sp>
        <p:nvSpPr>
          <p:cNvPr id="2" name="Google Shape;192;p10">
            <a:extLst>
              <a:ext uri="{FF2B5EF4-FFF2-40B4-BE49-F238E27FC236}">
                <a16:creationId xmlns:a16="http://schemas.microsoft.com/office/drawing/2014/main" id="{B6971462-F872-5B7C-D7D2-CD0C6FAEA883}"/>
              </a:ext>
            </a:extLst>
          </p:cNvPr>
          <p:cNvSpPr txBox="1"/>
          <p:nvPr/>
        </p:nvSpPr>
        <p:spPr>
          <a:xfrm>
            <a:off x="5617105" y="5516772"/>
            <a:ext cx="957786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endParaRPr sz="20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98;p2">
            <a:extLst>
              <a:ext uri="{FF2B5EF4-FFF2-40B4-BE49-F238E27FC236}">
                <a16:creationId xmlns:a16="http://schemas.microsoft.com/office/drawing/2014/main" id="{195BAF18-F3EC-E54D-E66C-6664DA1BEB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72825" y="6119104"/>
            <a:ext cx="697751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ru-RU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10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15022</TotalTime>
  <Words>575</Words>
  <Application>Microsoft Office PowerPoint</Application>
  <PresentationFormat>Широкоэкранный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Times New Roman Полужирный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Ксения Полянцева</dc:creator>
  <cp:lastModifiedBy>Office</cp:lastModifiedBy>
  <cp:revision>19</cp:revision>
  <dcterms:created xsi:type="dcterms:W3CDTF">2024-03-05T11:07:54Z</dcterms:created>
  <dcterms:modified xsi:type="dcterms:W3CDTF">2026-06-15T09:37:38Z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